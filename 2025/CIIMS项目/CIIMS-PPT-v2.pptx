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Lora" pitchFamily="2" charset="0"/>
      <p:regular r:id="rId15"/>
      <p:bold r:id="rId16"/>
      <p:italic r:id="rId17"/>
      <p:boldItalic r:id="rId18"/>
    </p:embeddedFont>
    <p:embeddedFont>
      <p:font typeface="Source Sans 3" panose="020B0303030403020204" pitchFamily="34" charset="0"/>
      <p:regular r:id="rId19"/>
      <p:bold r:id="rId20"/>
      <p:italic r:id="rId21"/>
      <p:boldItalic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5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1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428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2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104674"/>
            <a:ext cx="647080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CIIMS 技术评审 PPT 大纲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167664"/>
            <a:ext cx="7468553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校园智能库存管理系统 - 基于AI助手的桌面端库存管理解决方案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723" y="507206"/>
            <a:ext cx="6501765" cy="541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项目全景图 </a:t>
            </a:r>
            <a:r>
              <a:rPr lang="en-US" sz="34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(Technical Overview)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4723" y="1122640"/>
            <a:ext cx="260080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技术栈: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723" y="1723906"/>
            <a:ext cx="4324112" cy="104441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828913" y="1908096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8913" y="2289453"/>
            <a:ext cx="395573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PySide6 (Qt6 Python bindings)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153025" y="1723906"/>
            <a:ext cx="4324231" cy="104441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337215" y="1908096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Backend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37215" y="2289453"/>
            <a:ext cx="395585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3.9+ with MySQL Connector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61446" y="1723906"/>
            <a:ext cx="4324112" cy="104441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845635" y="1908096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45635" y="2289453"/>
            <a:ext cx="395573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MySQL 8.0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4723" y="2952512"/>
            <a:ext cx="6578322" cy="104441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8913" y="3136702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Integration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8913" y="3518059"/>
            <a:ext cx="620994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OpenRouter API (本地化部署)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07235" y="2952512"/>
            <a:ext cx="6578322" cy="104441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591425" y="3136702"/>
            <a:ext cx="2167295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91425" y="3518059"/>
            <a:ext cx="620994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Desktop Application with Embedded AI Assistant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723" y="4273153"/>
            <a:ext cx="260080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系统定位: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723" y="4874419"/>
            <a:ext cx="13340953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校园智能库存管理系统 (Campus Intelligent Inventory Management System) - 基于AI助手的桌面端库存管理解决方案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723" y="5519023"/>
            <a:ext cx="2600801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核心模块: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723" y="6286024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ui/screens/login_window.py - 身份认证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723" y="6645116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ui/screens/main_window.py - 主控制台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723" y="7004209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ui/screens/borrow_window.py - 物品借阅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4723" y="7363301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ui/screens/return_window.py - 物品归还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47491" y="6286024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ui/dialogs/ai_assistant_window.py - AI助手核心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547491" y="6645116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utils/assistant_service.py - AI服务层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547491" y="7004209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utils/assistant_data.py - SQL生成与验证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547491" y="7363301"/>
            <a:ext cx="644580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utils/database_helper.py - 数据库操作封装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380857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Assist 核心架构 </a:t>
            </a:r>
            <a:r>
              <a:rPr lang="en-US" sz="2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(The Brain)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8065" y="968097"/>
            <a:ext cx="1351097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587" y="1294090"/>
            <a:ext cx="5159812" cy="2546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8862" y="4154448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系统位置: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8862" y="4544973"/>
            <a:ext cx="13792676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嵌入式模块 (Embedded Module) - 集成在桌面应用中的AI助手,非独立服务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18862" y="4963835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请求生命周期: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8862" y="5354361"/>
            <a:ext cx="13792676" cy="1216920"/>
          </a:xfrm>
          <a:prstGeom prst="roundRect">
            <a:avLst>
              <a:gd name="adj" fmla="val 628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412909" y="5354360"/>
            <a:ext cx="13804583" cy="1216921"/>
          </a:xfrm>
          <a:prstGeom prst="roundRect">
            <a:avLst>
              <a:gd name="adj" fmla="val 628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532567" y="5444014"/>
            <a:ext cx="13565267" cy="2680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1. 用户输入捕获handle_send() -&gt; _</a:t>
            </a:r>
            <a:r>
              <a:rPr lang="en-US" sz="900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get_latest_user_prompt</a:t>
            </a: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2. 意图分类intent_result = service.classify_intent(</a:t>
            </a:r>
            <a:r>
              <a:rPr lang="en-US" sz="900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latest_prompt</a:t>
            </a: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3. 路由分发if intent_type == "database_query":    result = _handle_database_query()else:    result = _</a:t>
            </a:r>
            <a:r>
              <a:rPr lang="en-US" sz="900" dirty="0" err="1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handle_general_qa</a:t>
            </a: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4. 响应返回finished.emit(result) -&gt; _handle_success() -&gt; UI更新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8862" y="6825160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架构模式: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8862" y="7215685"/>
            <a:ext cx="4517708" cy="709017"/>
          </a:xfrm>
          <a:prstGeom prst="roundRect">
            <a:avLst>
              <a:gd name="adj" fmla="val 2532"/>
            </a:avLst>
          </a:prstGeom>
          <a:solidFill>
            <a:srgbClr val="FEF5E7"/>
          </a:solidFill>
          <a:ln w="1524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553760" y="735058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生产者-消费者模式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3760" y="7598352"/>
            <a:ext cx="424791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(QThread + Signal/Slot)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056227" y="7215685"/>
            <a:ext cx="4517827" cy="709017"/>
          </a:xfrm>
          <a:prstGeom prst="roundRect">
            <a:avLst>
              <a:gd name="adj" fmla="val 2532"/>
            </a:avLst>
          </a:prstGeom>
          <a:solidFill>
            <a:srgbClr val="FEF5E7"/>
          </a:solidFill>
          <a:ln w="1524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191125" y="735058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双路径处理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91125" y="7598352"/>
            <a:ext cx="4248031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(General Q&amp;A vs Database Query)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693712" y="7215685"/>
            <a:ext cx="4517827" cy="709017"/>
          </a:xfrm>
          <a:prstGeom prst="roundRect">
            <a:avLst>
              <a:gd name="adj" fmla="val 2532"/>
            </a:avLst>
          </a:prstGeom>
          <a:solidFill>
            <a:srgbClr val="FEF5E7"/>
          </a:solidFill>
          <a:ln w="1524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9828609" y="7350583"/>
            <a:ext cx="1419582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异步处理保证UI响应性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571095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意图识别与置信度逻辑 </a:t>
            </a:r>
            <a:r>
              <a:rPr lang="en-US" sz="2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(Intent &amp; Confidence)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728901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核心判断机制: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62" y="1119426"/>
            <a:ext cx="5710952" cy="23637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8862" y="3617715"/>
            <a:ext cx="13792676" cy="723424"/>
          </a:xfrm>
          <a:prstGeom prst="roundRect">
            <a:avLst>
              <a:gd name="adj" fmla="val 628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12909" y="3617715"/>
            <a:ext cx="13804583" cy="772962"/>
          </a:xfrm>
          <a:prstGeom prst="roundRect">
            <a:avLst>
              <a:gd name="adj" fmla="val 628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32567" y="3707369"/>
            <a:ext cx="13565267" cy="102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classify_intent(self, user_input: str) -&gt; Dict[str, Any]:    # LLM-based 意图分类    classification_prompt = f"""    Classify this user request for CIIMS:    - "database_query": 数据查询类请求    - "general_qa": 通用问答类请求    - "confidence": 0.0-1.0 置信度评分    """        payload = {        "model": Config.OPENROUTER_MODEL,        "messages": messages,        "response_format": {"type": "json_object"}  # 强制JSON输出    }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8862" y="4979222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置信度评分逻辑: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862" y="5369747"/>
            <a:ext cx="4597479" cy="478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8520" y="5968156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LLM 自评估置信度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8520" y="6215925"/>
            <a:ext cx="435816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(0.0-1.0)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341" y="5369747"/>
            <a:ext cx="4597598" cy="47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5999" y="5968156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默认阈值: 0.7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135999" y="6215925"/>
            <a:ext cx="435828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(隐含在分类逻辑中)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3940" y="5369747"/>
            <a:ext cx="4597598" cy="478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733598" y="5968156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回退策略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9733598" y="6215925"/>
            <a:ext cx="435828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分类失败时默认为 general_qa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18862" y="6927183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代码片段展示: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18862" y="7565680"/>
            <a:ext cx="13792676" cy="505001"/>
          </a:xfrm>
          <a:prstGeom prst="roundRect">
            <a:avLst>
              <a:gd name="adj" fmla="val 1182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4"/>
          <p:cNvSpPr/>
          <p:nvPr/>
        </p:nvSpPr>
        <p:spPr>
          <a:xfrm>
            <a:off x="412909" y="7437365"/>
            <a:ext cx="13804583" cy="505264"/>
          </a:xfrm>
          <a:prstGeom prst="roundRect">
            <a:avLst>
              <a:gd name="adj" fmla="val 1182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5"/>
          <p:cNvSpPr/>
          <p:nvPr/>
        </p:nvSpPr>
        <p:spPr>
          <a:xfrm>
            <a:off x="532567" y="7700613"/>
            <a:ext cx="13565267" cy="2503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置信度低于阈值时的回退处理except Exception as exc: return { "intent_type": "general_qa", "confidence": 0.3, "reasoning": "Classification failed, defaulting to general" 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729674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查询构建与模糊处理 </a:t>
            </a:r>
            <a:r>
              <a:rPr lang="en-US" sz="2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(Query Construction &amp; Fuzzy Logic)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728901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模糊匹配策略: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8862" y="1119426"/>
            <a:ext cx="13792676" cy="762953"/>
          </a:xfrm>
          <a:prstGeom prst="roundRect">
            <a:avLst>
              <a:gd name="adj" fmla="val 1049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2909" y="1119426"/>
            <a:ext cx="13804583" cy="659606"/>
          </a:xfrm>
          <a:prstGeom prst="roundRect">
            <a:avLst>
              <a:gd name="adj" fmla="val 1049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2567" y="1209080"/>
            <a:ext cx="13565267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assistant_data.py 中的模糊搜索指令instructions = f"""5. Use fuzzy search for semantic matching:   - For "books", "reading": 使用 LIKE '%book%' OR item_category IN ('books', 'textbooks')   - For "laptop", "computer": 使用 LIKE '%laptop%' OR item_category IN ('electronics')   - Always search both item_name and item_category columns   - Use LOWER() function for case-insensitive matching"""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007" y="1926507"/>
            <a:ext cx="6642735" cy="31418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8862" y="4317858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NL到SQL转换流程: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8862" y="4708383"/>
            <a:ext cx="119658" cy="149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8862" y="4896502"/>
            <a:ext cx="6836450" cy="1524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418862" y="498675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上下文构建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8862" y="5234520"/>
            <a:ext cx="6836450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sql_context = build_runtime_context(user_role, user_name)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74969" y="4708383"/>
            <a:ext cx="119658" cy="149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74969" y="4896502"/>
            <a:ext cx="6836569" cy="1524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7374969" y="498675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SQL提案生成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74969" y="5234520"/>
            <a:ext cx="6836569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first_reply = service.ask(history, sql_context)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8862" y="5642904"/>
            <a:ext cx="119658" cy="149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8862" y="5831023"/>
            <a:ext cx="6836450" cy="1524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418862" y="59212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SQL提取与验证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8862" y="6169042"/>
            <a:ext cx="6836450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extract_sql_payload(content)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8862" y="6439909"/>
            <a:ext cx="6836450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proposed_sql = payload.get("proposed_sql", "")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74969" y="5642904"/>
            <a:ext cx="119658" cy="149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74969" y="5831023"/>
            <a:ext cx="6836569" cy="15240"/>
          </a:xfrm>
          <a:prstGeom prst="rect">
            <a:avLst/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7374969" y="59212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安全执行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74969" y="6169042"/>
            <a:ext cx="6836569" cy="199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proposed_sql: follow_up = _handle_sql_follow_up(proposed_sql, sql_context, first_reply)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8862" y="6908063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实体抽取机制: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18862" y="7298588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基于语义理解的模糊匹配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8862" y="7531831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多列搜索: item_name + item_category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18862" y="7765074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大小写不敏感: LOWER() 函数包装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436673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安全与权限控制 </a:t>
            </a:r>
            <a:r>
              <a:rPr lang="en-US" sz="2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(Security &amp; RBAC)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8065" y="968097"/>
            <a:ext cx="1351097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8862" y="1446609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权限校验机制: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8862" y="1837135"/>
            <a:ext cx="13792676" cy="921832"/>
          </a:xfrm>
          <a:prstGeom prst="roundRect">
            <a:avLst>
              <a:gd name="adj" fmla="val 427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12909" y="1837135"/>
            <a:ext cx="13804583" cy="921832"/>
          </a:xfrm>
          <a:prstGeom prst="roundRect">
            <a:avLst>
              <a:gd name="adj" fmla="val 427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32567" y="1926788"/>
            <a:ext cx="13565267" cy="4020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assistant_data.py - 角色访问控制ROLE_ACCESS: Dict[str, List[str]] = {    "admin": ["items", "borrows", "users"],    "user": ["items", "borrows"],  # 普通用户不能访问用户表}def validate_sql(sql: str, user_role: str) -&gt; Tuple[bool, Optional[str]]:    # 1. SQL类型检查 (仅允许SELECT)    if not upper_stmt.startswith("SELECT"):        return False, "Only SELECT statements are allowed"        # 2. 关键词拦截    for keyword in SQL_BLOCKLIST:  # ["DELETE", "UPDATE", "INSERT", "DROP"]        if keyword in upper_stmt:            return False, f"Keyword '{keyword}' is not allowed"        # 3. 表级权限验证    tables = _extract_tables(statement)    allowed = set(ROLE_ACCESS.get(user_role, ROLE_ACCESS["user"]))    if not tables.issubset(allowed):        return False, f"Forbidden table(s): {forbidden}"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551" y="2638292"/>
            <a:ext cx="7001828" cy="36803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8862" y="5815714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拦截逻辑: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8862" y="6206240"/>
            <a:ext cx="13792676" cy="752500"/>
          </a:xfrm>
          <a:prstGeom prst="roundRect">
            <a:avLst>
              <a:gd name="adj" fmla="val 857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12909" y="6206240"/>
            <a:ext cx="13804583" cy="752500"/>
          </a:xfrm>
          <a:prstGeom prst="roundRect">
            <a:avLst>
              <a:gd name="adj" fmla="val 857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32567" y="6295893"/>
            <a:ext cx="13565267" cy="1914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execute_safe_sql(sql: str, user_role: str, user_name: str):    ok, message = validate_sql(sql, user_role)    if not ok:        raise ValueError(message or "Invalid SQL")  # 拦截并抛出异常        # 占位符替换 (防止SQL注入)    prepared_sql = message    placeholder_values = _resolve_placeholders(user_name)    for key, value in placeholder_values.items():        prepared_sql = prepared_sql.replace(key, value)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8862" y="7162142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安全级别: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8862" y="7552667"/>
            <a:ext cx="13792676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接口级控制 (API-level) + 表级权限 (Table-level RBAC)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590561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交互与本地化部署 </a:t>
            </a:r>
            <a:r>
              <a:rPr lang="en-US" sz="2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(Local LLM Integration)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728901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本地部署方案: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8862" y="1119426"/>
            <a:ext cx="13792676" cy="480179"/>
          </a:xfrm>
          <a:prstGeom prst="roundRect">
            <a:avLst>
              <a:gd name="adj" fmla="val 1900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12909" y="1119426"/>
            <a:ext cx="13804583" cy="509706"/>
          </a:xfrm>
          <a:prstGeom prst="roundRect">
            <a:avLst>
              <a:gd name="adj" fmla="val 1900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32567" y="1209080"/>
            <a:ext cx="13565267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config.py - API配置OPENROUTER_BASE_URL = "http://127.0.0.1:7897"  # 本地代理地址OPENROUTER_MODEL = "deepseek/deepseek-chat"  # 本地模型PROXY_URL = "http://127.0.0.1:7897"  # 代理配置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49" y="1734502"/>
            <a:ext cx="5517020" cy="39367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8862" y="5276106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通信层实现: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8862" y="5635096"/>
            <a:ext cx="13792676" cy="939046"/>
          </a:xfrm>
          <a:prstGeom prst="roundRect">
            <a:avLst>
              <a:gd name="adj" fmla="val 392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12909" y="5635096"/>
            <a:ext cx="13804583" cy="921663"/>
          </a:xfrm>
          <a:prstGeom prst="roundRect">
            <a:avLst>
              <a:gd name="adj" fmla="val 392"/>
            </a:avLst>
          </a:prstGeom>
          <a:solidFill>
            <a:srgbClr val="F1E8D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532567" y="5710167"/>
            <a:ext cx="13565267" cy="78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_build_headers(self) -&gt; Dict[str, str]:    headers = {        "Authorization": f"Bearer {Config.OPENROUTER_API_KEY}",        "Content-Type": "application/json",        "HTTP-Referer": Config.OPENROUTER_REFERER,        "X-Title": Config.OPENROUTER_TITLE    }def ask(self, history, runtime_context="", reasoning_enabled=False):    payload = {        "model": Config.OPENROUTER_MODEL,        "messages": self._build_messages(history, runtime_context)    }        if reasoning_enabled:        payload["reasoning"] = {"enabled": True}        response = self.client.post(        self.endpoint,        headers=self._build_headers(),        json=payload,        timeout=60    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8862" y="6667116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超时与错误处理: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8862" y="6978812"/>
            <a:ext cx="4517708" cy="709017"/>
          </a:xfrm>
          <a:prstGeom prst="roundRect">
            <a:avLst>
              <a:gd name="adj" fmla="val 10317"/>
            </a:avLst>
          </a:prstGeom>
          <a:solidFill>
            <a:srgbClr val="FEF5E7"/>
          </a:solidFill>
          <a:ln w="1524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403622" y="6978812"/>
            <a:ext cx="60960" cy="709017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99480" y="711371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连接超时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9480" y="7361479"/>
            <a:ext cx="420219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60秒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56227" y="6978812"/>
            <a:ext cx="4517827" cy="709017"/>
          </a:xfrm>
          <a:prstGeom prst="roundRect">
            <a:avLst>
              <a:gd name="adj" fmla="val 10317"/>
            </a:avLst>
          </a:prstGeom>
          <a:solidFill>
            <a:srgbClr val="FEF5E7"/>
          </a:solidFill>
          <a:ln w="1524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5040987" y="6978812"/>
            <a:ext cx="60960" cy="709017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5236845" y="711371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重试机制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36845" y="7361479"/>
            <a:ext cx="4202311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无 (快速失败策略)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693712" y="6978812"/>
            <a:ext cx="4517827" cy="709017"/>
          </a:xfrm>
          <a:prstGeom prst="roundRect">
            <a:avLst>
              <a:gd name="adj" fmla="val 10317"/>
            </a:avLst>
          </a:prstGeom>
          <a:solidFill>
            <a:srgbClr val="FEF5E7"/>
          </a:solidFill>
          <a:ln w="15240">
            <a:solidFill>
              <a:srgbClr val="D9CD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19"/>
          <p:cNvSpPr/>
          <p:nvPr/>
        </p:nvSpPr>
        <p:spPr>
          <a:xfrm>
            <a:off x="9678472" y="6978812"/>
            <a:ext cx="60960" cy="709017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9874329" y="7113710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错误分类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874329" y="7361479"/>
            <a:ext cx="4202311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HTTP错误 vs 服务错误 vs 业务错误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总结与技术挑战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728901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当前架构优势: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8862" y="1119426"/>
            <a:ext cx="6836450" cy="1157168"/>
          </a:xfrm>
          <a:prstGeom prst="roundRect">
            <a:avLst>
              <a:gd name="adj" fmla="val 1552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8520" y="1239083"/>
            <a:ext cx="358973" cy="358973"/>
          </a:xfrm>
          <a:prstGeom prst="roundRect">
            <a:avLst>
              <a:gd name="adj" fmla="val 2547012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223" y="1337667"/>
            <a:ext cx="161568" cy="161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8520" y="1717715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嵌入式设计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8520" y="1965484"/>
            <a:ext cx="659713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无需额外服务部署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374969" y="1119426"/>
            <a:ext cx="6836569" cy="1157168"/>
          </a:xfrm>
          <a:prstGeom prst="roundRect">
            <a:avLst>
              <a:gd name="adj" fmla="val 1552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7494627" y="1239083"/>
            <a:ext cx="358973" cy="358973"/>
          </a:xfrm>
          <a:prstGeom prst="roundRect">
            <a:avLst>
              <a:gd name="adj" fmla="val 2547012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3330" y="1337667"/>
            <a:ext cx="161568" cy="161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4627" y="1717715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双路径处理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94627" y="1965484"/>
            <a:ext cx="659725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智能路由分发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18862" y="2396252"/>
            <a:ext cx="6836450" cy="893921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1"/>
          <p:cNvSpPr/>
          <p:nvPr/>
        </p:nvSpPr>
        <p:spPr>
          <a:xfrm>
            <a:off x="538520" y="2515910"/>
            <a:ext cx="358973" cy="358973"/>
          </a:xfrm>
          <a:prstGeom prst="roundRect">
            <a:avLst>
              <a:gd name="adj" fmla="val 2547012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223" y="2614493"/>
            <a:ext cx="161568" cy="1615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8520" y="2994541"/>
            <a:ext cx="1538526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严格的SQL安全验证机制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74969" y="2396252"/>
            <a:ext cx="6836569" cy="893921"/>
          </a:xfrm>
          <a:prstGeom prst="roundRect">
            <a:avLst>
              <a:gd name="adj" fmla="val 2008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7494627" y="2515910"/>
            <a:ext cx="358973" cy="358973"/>
          </a:xfrm>
          <a:prstGeom prst="roundRect">
            <a:avLst>
              <a:gd name="adj" fmla="val 25470121"/>
            </a:avLst>
          </a:prstGeom>
          <a:solidFill>
            <a:srgbClr val="38512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3330" y="2614493"/>
            <a:ext cx="161568" cy="1615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4627" y="2994541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多语言自适应支持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18862" y="3395504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性能瓶颈: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18862" y="372832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LLM调用延迟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18862" y="4023955"/>
            <a:ext cx="435590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每次意图分类需要额外API调用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074325" y="372832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同步SQL执行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74325" y="4023955"/>
            <a:ext cx="4355902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大查询可能阻塞UI线程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9729788" y="372832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内存占用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729788" y="4023955"/>
            <a:ext cx="449675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完整对话历史在内存中维护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18862" y="4263932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下一步优化方向: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598289" y="4953541"/>
            <a:ext cx="6656903" cy="119658"/>
          </a:xfrm>
          <a:prstGeom prst="roundRect">
            <a:avLst>
              <a:gd name="adj" fmla="val 1500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5"/>
          <p:cNvSpPr/>
          <p:nvPr/>
        </p:nvSpPr>
        <p:spPr>
          <a:xfrm>
            <a:off x="418862" y="4833824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635" y="4923597"/>
            <a:ext cx="179427" cy="17942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8520" y="5312515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意图分类缓存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38520" y="5560284"/>
            <a:ext cx="659713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基于用户历史模式预测意图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7554397" y="4774114"/>
            <a:ext cx="6657023" cy="119658"/>
          </a:xfrm>
          <a:prstGeom prst="roundRect">
            <a:avLst>
              <a:gd name="adj" fmla="val 1500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29"/>
          <p:cNvSpPr/>
          <p:nvPr/>
        </p:nvSpPr>
        <p:spPr>
          <a:xfrm>
            <a:off x="7374969" y="4654397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64743" y="4744170"/>
            <a:ext cx="179427" cy="17942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94627" y="513308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异步SQL执行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7494627" y="5380857"/>
            <a:ext cx="659725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使用连接池 + 异步I/O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98289" y="6006349"/>
            <a:ext cx="6656903" cy="119658"/>
          </a:xfrm>
          <a:prstGeom prst="roundRect">
            <a:avLst>
              <a:gd name="adj" fmla="val 1500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3"/>
          <p:cNvSpPr/>
          <p:nvPr/>
        </p:nvSpPr>
        <p:spPr>
          <a:xfrm>
            <a:off x="418862" y="5886632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8635" y="5976405"/>
            <a:ext cx="179427" cy="179427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38520" y="636532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流式响应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538520" y="6613092"/>
            <a:ext cx="6597134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实现实时响应流显示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7554397" y="5826922"/>
            <a:ext cx="6657023" cy="119658"/>
          </a:xfrm>
          <a:prstGeom prst="roundRect">
            <a:avLst>
              <a:gd name="adj" fmla="val 15004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37"/>
          <p:cNvSpPr/>
          <p:nvPr/>
        </p:nvSpPr>
        <p:spPr>
          <a:xfrm>
            <a:off x="7374969" y="5707205"/>
            <a:ext cx="358973" cy="358973"/>
          </a:xfrm>
          <a:prstGeom prst="roundRect">
            <a:avLst>
              <a:gd name="adj" fmla="val 127363"/>
            </a:avLst>
          </a:prstGeom>
          <a:solidFill>
            <a:srgbClr val="F3E7D4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64743" y="5796978"/>
            <a:ext cx="179427" cy="179427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7494627" y="6185895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本地模型优化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7494627" y="6433664"/>
            <a:ext cx="659725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量化模型减少推理延迟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418862" y="7081705"/>
            <a:ext cx="1689735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技术债务:</a:t>
            </a:r>
            <a:endParaRPr lang="en-US" sz="1300" dirty="0"/>
          </a:p>
        </p:txBody>
      </p:sp>
      <p:sp>
        <p:nvSpPr>
          <p:cNvPr id="51" name="Text 41"/>
          <p:cNvSpPr/>
          <p:nvPr/>
        </p:nvSpPr>
        <p:spPr>
          <a:xfrm>
            <a:off x="418862" y="7409166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异常处理粒度过粗 (大量 broad Exception)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418862" y="7642410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配置管理分散在多个文件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418862" y="7875653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缺乏完整的单元测试覆盖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1259</Words>
  <Application>Microsoft Macintosh PowerPoint</Application>
  <PresentationFormat>自定义</PresentationFormat>
  <Paragraphs>127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Lora</vt:lpstr>
      <vt:lpstr>Consolas</vt:lpstr>
      <vt:lpstr>Arial</vt:lpstr>
      <vt:lpstr>Lora Light</vt:lpstr>
      <vt:lpstr>Source Sans 3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t89779</cp:lastModifiedBy>
  <cp:revision>3</cp:revision>
  <dcterms:created xsi:type="dcterms:W3CDTF">2025-11-21T13:06:24Z</dcterms:created>
  <dcterms:modified xsi:type="dcterms:W3CDTF">2025-11-21T13:40:23Z</dcterms:modified>
</cp:coreProperties>
</file>